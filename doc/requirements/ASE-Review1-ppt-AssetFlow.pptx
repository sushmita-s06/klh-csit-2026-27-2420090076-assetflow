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378" y="3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2B2C2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2B2C2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2B2C2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2B2C2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EEED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93534" y="179069"/>
            <a:ext cx="4944745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2B2C2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3139" y="3056407"/>
            <a:ext cx="16701769" cy="63487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43000" y="2153240"/>
            <a:ext cx="14777719" cy="122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5"/>
              </a:spcBef>
            </a:pPr>
            <a:r>
              <a:rPr sz="2800" b="1" dirty="0">
                <a:latin typeface="Times New Roman"/>
                <a:cs typeface="Times New Roman"/>
              </a:rPr>
              <a:t>ASSETFLOW</a:t>
            </a:r>
            <a:r>
              <a:rPr sz="2800" b="1" spc="165" dirty="0">
                <a:latin typeface="Times New Roman"/>
                <a:cs typeface="Times New Roman"/>
              </a:rPr>
              <a:t> </a:t>
            </a:r>
            <a:r>
              <a:rPr sz="2800" b="1" spc="440" dirty="0">
                <a:latin typeface="Times New Roman"/>
                <a:cs typeface="Times New Roman"/>
              </a:rPr>
              <a:t>–</a:t>
            </a:r>
            <a:r>
              <a:rPr sz="2800" b="1" spc="1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ENTERPRISE</a:t>
            </a:r>
            <a:r>
              <a:rPr sz="2800" b="1" spc="114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IT</a:t>
            </a:r>
            <a:r>
              <a:rPr sz="2800" b="1" spc="1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ASSET</a:t>
            </a:r>
            <a:r>
              <a:rPr sz="2800" b="1" spc="14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MANAGEMENT </a:t>
            </a:r>
            <a:r>
              <a:rPr sz="2800" b="1" dirty="0">
                <a:latin typeface="Times New Roman"/>
                <a:cs typeface="Times New Roman"/>
              </a:rPr>
              <a:t>PLATFORM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WITH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INTELLIGENT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ASSET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spc="-35" dirty="0">
                <a:latin typeface="Times New Roman"/>
                <a:cs typeface="Times New Roman"/>
              </a:rPr>
              <a:t>TRACKING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204" dirty="0">
                <a:latin typeface="Times New Roman"/>
                <a:cs typeface="Times New Roman"/>
              </a:rPr>
              <a:t>&amp; </a:t>
            </a:r>
            <a:r>
              <a:rPr sz="2800" b="1" spc="-95" dirty="0">
                <a:latin typeface="Times New Roman"/>
                <a:cs typeface="Times New Roman"/>
              </a:rPr>
              <a:t>LIFECYCLE</a:t>
            </a:r>
            <a:r>
              <a:rPr sz="2800" b="1" spc="-14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MONITORING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838200" y="3493034"/>
            <a:ext cx="16230600" cy="40005"/>
          </a:xfrm>
          <a:custGeom>
            <a:avLst/>
            <a:gdLst/>
            <a:ahLst/>
            <a:cxnLst/>
            <a:rect l="l" t="t" r="r" b="b"/>
            <a:pathLst>
              <a:path w="16230600" h="40004">
                <a:moveTo>
                  <a:pt x="0" y="39624"/>
                </a:moveTo>
                <a:lnTo>
                  <a:pt x="16230600" y="0"/>
                </a:lnTo>
              </a:path>
            </a:pathLst>
          </a:custGeom>
          <a:ln w="9144">
            <a:solidFill>
              <a:srgbClr val="2B2C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660707"/>
              </p:ext>
            </p:extLst>
          </p:nvPr>
        </p:nvGraphicFramePr>
        <p:xfrm>
          <a:off x="4191000" y="3685824"/>
          <a:ext cx="9677400" cy="3450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2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96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S.no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Roll</a:t>
                      </a:r>
                      <a:r>
                        <a:rPr sz="18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No.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2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2420030249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Anakala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Sarayu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2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2420030269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Manduri</a:t>
                      </a:r>
                      <a:r>
                        <a:rPr sz="18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Varshitha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2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2420030468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Nidumolu</a:t>
                      </a:r>
                      <a:r>
                        <a:rPr sz="18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>
                          <a:latin typeface="Calibri"/>
                          <a:cs typeface="Calibri"/>
                        </a:rPr>
                        <a:t>Veda</a:t>
                      </a:r>
                      <a:r>
                        <a:rPr sz="18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>
                          <a:latin typeface="Calibri"/>
                          <a:cs typeface="Calibri"/>
                        </a:rPr>
                        <a:t>Samhita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02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2420090076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Sushmita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Sallam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876800" y="8505704"/>
            <a:ext cx="8865871" cy="13304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Ms.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28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Lavanya</a:t>
            </a:r>
            <a:endParaRPr lang="en-US" sz="28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IN" sz="2800" b="1" spc="-1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0F253E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Department of Computer Science and Engineering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4861B6-3905-C580-77C9-5BCFA40DA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0" y="92710"/>
            <a:ext cx="3402569" cy="108796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685AED3-C5A4-3333-D200-A46C53957F10}"/>
              </a:ext>
            </a:extLst>
          </p:cNvPr>
          <p:cNvSpPr/>
          <p:nvPr/>
        </p:nvSpPr>
        <p:spPr>
          <a:xfrm>
            <a:off x="2895600" y="266700"/>
            <a:ext cx="11080750" cy="1676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ADAPTIVE SOFTWARE ENGINEERING(24I3201)</a:t>
            </a:r>
          </a:p>
          <a:p>
            <a:pPr algn="ctr"/>
            <a:r>
              <a:rPr lang="en-IN" sz="3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Project Review - 1</a:t>
            </a:r>
            <a:endParaRPr lang="en-IN" sz="3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8C4083-1A88-0DE3-212F-6D391716D17B}"/>
              </a:ext>
            </a:extLst>
          </p:cNvPr>
          <p:cNvSpPr txBox="1"/>
          <p:nvPr/>
        </p:nvSpPr>
        <p:spPr>
          <a:xfrm>
            <a:off x="6400800" y="7872150"/>
            <a:ext cx="6210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388734" y="1216914"/>
            <a:ext cx="357568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10" dirty="0"/>
              <a:t>ABSTRACT</a:t>
            </a:r>
            <a:endParaRPr sz="6600"/>
          </a:p>
        </p:txBody>
      </p:sp>
      <p:sp>
        <p:nvSpPr>
          <p:cNvPr id="4" name="object 4"/>
          <p:cNvSpPr/>
          <p:nvPr/>
        </p:nvSpPr>
        <p:spPr>
          <a:xfrm>
            <a:off x="4038600" y="2476500"/>
            <a:ext cx="9525000" cy="0"/>
          </a:xfrm>
          <a:custGeom>
            <a:avLst/>
            <a:gdLst/>
            <a:ahLst/>
            <a:cxnLst/>
            <a:rect l="l" t="t" r="r" b="b"/>
            <a:pathLst>
              <a:path w="9525000">
                <a:moveTo>
                  <a:pt x="0" y="0"/>
                </a:moveTo>
                <a:lnTo>
                  <a:pt x="95250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94155">
              <a:lnSpc>
                <a:spcPct val="150000"/>
              </a:lnSpc>
              <a:spcBef>
                <a:spcPts val="100"/>
              </a:spcBef>
            </a:pPr>
            <a:r>
              <a:rPr dirty="0"/>
              <a:t>AssetFlow</a:t>
            </a:r>
            <a:r>
              <a:rPr spc="-65" dirty="0"/>
              <a:t> </a:t>
            </a:r>
            <a:r>
              <a:rPr dirty="0"/>
              <a:t>is</a:t>
            </a:r>
            <a:r>
              <a:rPr spc="-80" dirty="0"/>
              <a:t> </a:t>
            </a:r>
            <a:r>
              <a:rPr dirty="0"/>
              <a:t>a</a:t>
            </a:r>
            <a:r>
              <a:rPr spc="-75" dirty="0"/>
              <a:t> </a:t>
            </a:r>
            <a:r>
              <a:rPr spc="-10" dirty="0"/>
              <a:t>centralized</a:t>
            </a:r>
            <a:r>
              <a:rPr spc="-75" dirty="0"/>
              <a:t> </a:t>
            </a:r>
            <a:r>
              <a:rPr spc="-25" dirty="0"/>
              <a:t>web-</a:t>
            </a:r>
            <a:r>
              <a:rPr dirty="0"/>
              <a:t>based</a:t>
            </a:r>
            <a:r>
              <a:rPr spc="-65" dirty="0"/>
              <a:t> </a:t>
            </a:r>
            <a:r>
              <a:rPr spc="-10" dirty="0"/>
              <a:t>system</a:t>
            </a:r>
            <a:r>
              <a:rPr spc="-70" dirty="0"/>
              <a:t> </a:t>
            </a:r>
            <a:r>
              <a:rPr dirty="0"/>
              <a:t>designed</a:t>
            </a:r>
            <a:r>
              <a:rPr spc="-65" dirty="0"/>
              <a:t> </a:t>
            </a:r>
            <a:r>
              <a:rPr dirty="0"/>
              <a:t>to</a:t>
            </a:r>
            <a:r>
              <a:rPr spc="-80" dirty="0"/>
              <a:t> </a:t>
            </a:r>
            <a:r>
              <a:rPr dirty="0"/>
              <a:t>simplify</a:t>
            </a:r>
            <a:r>
              <a:rPr spc="-55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spc="-10" dirty="0"/>
              <a:t>automate</a:t>
            </a:r>
            <a:r>
              <a:rPr spc="-80" dirty="0"/>
              <a:t> </a:t>
            </a:r>
            <a:r>
              <a:rPr dirty="0"/>
              <a:t>IT</a:t>
            </a:r>
            <a:r>
              <a:rPr spc="-85" dirty="0"/>
              <a:t> </a:t>
            </a:r>
            <a:r>
              <a:rPr dirty="0"/>
              <a:t>asset</a:t>
            </a:r>
            <a:r>
              <a:rPr spc="-70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spc="-10" dirty="0"/>
              <a:t>inventory management.</a:t>
            </a:r>
            <a:r>
              <a:rPr spc="-85" dirty="0"/>
              <a:t> </a:t>
            </a:r>
            <a:r>
              <a:rPr dirty="0"/>
              <a:t>It</a:t>
            </a:r>
            <a:r>
              <a:rPr spc="-95" dirty="0"/>
              <a:t> </a:t>
            </a:r>
            <a:r>
              <a:rPr dirty="0"/>
              <a:t>helps</a:t>
            </a:r>
            <a:r>
              <a:rPr spc="-65" dirty="0"/>
              <a:t> </a:t>
            </a:r>
            <a:r>
              <a:rPr spc="-20" dirty="0"/>
              <a:t>organizations</a:t>
            </a:r>
            <a:r>
              <a:rPr spc="-95" dirty="0"/>
              <a:t> </a:t>
            </a:r>
            <a:r>
              <a:rPr dirty="0"/>
              <a:t>efficiently</a:t>
            </a:r>
            <a:r>
              <a:rPr spc="-105" dirty="0"/>
              <a:t> </a:t>
            </a:r>
            <a:r>
              <a:rPr dirty="0"/>
              <a:t>track</a:t>
            </a:r>
            <a:r>
              <a:rPr spc="-80" dirty="0"/>
              <a:t> </a:t>
            </a:r>
            <a:r>
              <a:rPr dirty="0"/>
              <a:t>devices</a:t>
            </a:r>
            <a:r>
              <a:rPr spc="-80" dirty="0"/>
              <a:t> </a:t>
            </a:r>
            <a:r>
              <a:rPr dirty="0"/>
              <a:t>such</a:t>
            </a:r>
            <a:r>
              <a:rPr spc="-70" dirty="0"/>
              <a:t> </a:t>
            </a:r>
            <a:r>
              <a:rPr dirty="0"/>
              <a:t>as</a:t>
            </a:r>
            <a:r>
              <a:rPr spc="-80" dirty="0"/>
              <a:t> </a:t>
            </a:r>
            <a:r>
              <a:rPr dirty="0"/>
              <a:t>laptops,</a:t>
            </a:r>
            <a:r>
              <a:rPr spc="-75" dirty="0"/>
              <a:t> </a:t>
            </a:r>
            <a:r>
              <a:rPr dirty="0"/>
              <a:t>desktops,</a:t>
            </a:r>
            <a:r>
              <a:rPr spc="-65" dirty="0"/>
              <a:t> </a:t>
            </a:r>
            <a:r>
              <a:rPr spc="-10" dirty="0"/>
              <a:t>monitors,</a:t>
            </a:r>
            <a:r>
              <a:rPr spc="-70" dirty="0"/>
              <a:t> </a:t>
            </a:r>
            <a:r>
              <a:rPr spc="-10" dirty="0"/>
              <a:t>printers, networking</a:t>
            </a:r>
            <a:r>
              <a:rPr spc="-100" dirty="0"/>
              <a:t> </a:t>
            </a:r>
            <a:r>
              <a:rPr dirty="0"/>
              <a:t>equipment,</a:t>
            </a:r>
            <a:r>
              <a:rPr spc="-70" dirty="0"/>
              <a:t> </a:t>
            </a:r>
            <a:r>
              <a:rPr dirty="0"/>
              <a:t>and</a:t>
            </a:r>
            <a:r>
              <a:rPr spc="-100" dirty="0"/>
              <a:t> </a:t>
            </a:r>
            <a:r>
              <a:rPr spc="-10" dirty="0"/>
              <a:t>accessories.</a:t>
            </a:r>
          </a:p>
          <a:p>
            <a:pPr marL="12700" marR="570865" algn="just">
              <a:lnSpc>
                <a:spcPct val="150000"/>
              </a:lnSpc>
            </a:pPr>
            <a:r>
              <a:rPr dirty="0"/>
              <a:t>The</a:t>
            </a:r>
            <a:r>
              <a:rPr spc="-85" dirty="0"/>
              <a:t> </a:t>
            </a:r>
            <a:r>
              <a:rPr spc="-10" dirty="0"/>
              <a:t>system</a:t>
            </a:r>
            <a:r>
              <a:rPr spc="-75" dirty="0"/>
              <a:t> </a:t>
            </a:r>
            <a:r>
              <a:rPr dirty="0"/>
              <a:t>allows</a:t>
            </a:r>
            <a:r>
              <a:rPr spc="-85" dirty="0"/>
              <a:t> </a:t>
            </a:r>
            <a:r>
              <a:rPr spc="-10" dirty="0"/>
              <a:t>authorized</a:t>
            </a:r>
            <a:r>
              <a:rPr spc="-65" dirty="0"/>
              <a:t> </a:t>
            </a:r>
            <a:r>
              <a:rPr dirty="0"/>
              <a:t>users</a:t>
            </a:r>
            <a:r>
              <a:rPr spc="-65" dirty="0"/>
              <a:t> </a:t>
            </a:r>
            <a:r>
              <a:rPr dirty="0"/>
              <a:t>to</a:t>
            </a:r>
            <a:r>
              <a:rPr spc="-85" dirty="0"/>
              <a:t> </a:t>
            </a:r>
            <a:r>
              <a:rPr dirty="0"/>
              <a:t>add,</a:t>
            </a:r>
            <a:r>
              <a:rPr spc="-85" dirty="0"/>
              <a:t> </a:t>
            </a:r>
            <a:r>
              <a:rPr dirty="0"/>
              <a:t>update,</a:t>
            </a:r>
            <a:r>
              <a:rPr spc="-65" dirty="0"/>
              <a:t> </a:t>
            </a:r>
            <a:r>
              <a:rPr spc="-10" dirty="0"/>
              <a:t>categorize,</a:t>
            </a:r>
            <a:r>
              <a:rPr spc="-105" dirty="0"/>
              <a:t> </a:t>
            </a:r>
            <a:r>
              <a:rPr dirty="0"/>
              <a:t>assign,</a:t>
            </a:r>
            <a:r>
              <a:rPr spc="-65" dirty="0"/>
              <a:t> </a:t>
            </a:r>
            <a:r>
              <a:rPr spc="-45" dirty="0"/>
              <a:t>transfer,</a:t>
            </a:r>
            <a:r>
              <a:rPr spc="-65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dirty="0"/>
              <a:t>monitor</a:t>
            </a:r>
            <a:r>
              <a:rPr spc="-60" dirty="0"/>
              <a:t> </a:t>
            </a:r>
            <a:r>
              <a:rPr dirty="0"/>
              <a:t>assets.</a:t>
            </a:r>
            <a:r>
              <a:rPr spc="-75" dirty="0"/>
              <a:t> </a:t>
            </a:r>
            <a:r>
              <a:rPr dirty="0"/>
              <a:t>It</a:t>
            </a:r>
            <a:r>
              <a:rPr spc="-85" dirty="0"/>
              <a:t> </a:t>
            </a:r>
            <a:r>
              <a:rPr spc="-10" dirty="0"/>
              <a:t>maintains </a:t>
            </a:r>
            <a:r>
              <a:rPr dirty="0"/>
              <a:t>details</a:t>
            </a:r>
            <a:r>
              <a:rPr spc="-85" dirty="0"/>
              <a:t> </a:t>
            </a:r>
            <a:r>
              <a:rPr dirty="0"/>
              <a:t>such</a:t>
            </a:r>
            <a:r>
              <a:rPr spc="-75" dirty="0"/>
              <a:t> </a:t>
            </a:r>
            <a:r>
              <a:rPr dirty="0"/>
              <a:t>as</a:t>
            </a:r>
            <a:r>
              <a:rPr spc="-95" dirty="0"/>
              <a:t> </a:t>
            </a:r>
            <a:r>
              <a:rPr dirty="0"/>
              <a:t>asset</a:t>
            </a:r>
            <a:r>
              <a:rPr spc="-100" dirty="0"/>
              <a:t> </a:t>
            </a:r>
            <a:r>
              <a:rPr dirty="0"/>
              <a:t>ID,</a:t>
            </a:r>
            <a:r>
              <a:rPr spc="-85" dirty="0"/>
              <a:t> </a:t>
            </a:r>
            <a:r>
              <a:rPr spc="-30" dirty="0"/>
              <a:t>category,</a:t>
            </a:r>
            <a:r>
              <a:rPr spc="-105" dirty="0"/>
              <a:t> </a:t>
            </a:r>
            <a:r>
              <a:rPr dirty="0"/>
              <a:t>purchase</a:t>
            </a:r>
            <a:r>
              <a:rPr spc="-65" dirty="0"/>
              <a:t> </a:t>
            </a:r>
            <a:r>
              <a:rPr spc="-10" dirty="0"/>
              <a:t>information,</a:t>
            </a:r>
            <a:r>
              <a:rPr spc="-80" dirty="0"/>
              <a:t> </a:t>
            </a:r>
            <a:r>
              <a:rPr dirty="0"/>
              <a:t>employee,</a:t>
            </a:r>
            <a:r>
              <a:rPr spc="-90" dirty="0"/>
              <a:t> </a:t>
            </a:r>
            <a:r>
              <a:rPr dirty="0"/>
              <a:t>location,</a:t>
            </a:r>
            <a:r>
              <a:rPr spc="-90" dirty="0"/>
              <a:t> </a:t>
            </a:r>
            <a:r>
              <a:rPr dirty="0"/>
              <a:t>condition,</a:t>
            </a:r>
            <a:r>
              <a:rPr spc="-70" dirty="0"/>
              <a:t> </a:t>
            </a:r>
            <a:r>
              <a:rPr spc="-20" dirty="0"/>
              <a:t>availability,</a:t>
            </a:r>
            <a:r>
              <a:rPr spc="-90" dirty="0"/>
              <a:t> </a:t>
            </a:r>
            <a:r>
              <a:rPr dirty="0"/>
              <a:t>and</a:t>
            </a:r>
            <a:r>
              <a:rPr spc="-90" dirty="0"/>
              <a:t> </a:t>
            </a:r>
            <a:r>
              <a:rPr dirty="0"/>
              <a:t>status.</a:t>
            </a:r>
            <a:r>
              <a:rPr spc="-65" dirty="0"/>
              <a:t> </a:t>
            </a:r>
            <a:r>
              <a:rPr spc="-50" dirty="0"/>
              <a:t>A </a:t>
            </a:r>
            <a:r>
              <a:rPr dirty="0"/>
              <a:t>dashboard</a:t>
            </a:r>
            <a:r>
              <a:rPr spc="-95" dirty="0"/>
              <a:t> </a:t>
            </a:r>
            <a:r>
              <a:rPr dirty="0"/>
              <a:t>provides</a:t>
            </a:r>
            <a:r>
              <a:rPr spc="-95" dirty="0"/>
              <a:t> </a:t>
            </a:r>
            <a:r>
              <a:rPr dirty="0"/>
              <a:t>insights</a:t>
            </a:r>
            <a:r>
              <a:rPr spc="-95" dirty="0"/>
              <a:t> </a:t>
            </a:r>
            <a:r>
              <a:rPr dirty="0"/>
              <a:t>into</a:t>
            </a:r>
            <a:r>
              <a:rPr spc="-110" dirty="0"/>
              <a:t> </a:t>
            </a:r>
            <a:r>
              <a:rPr dirty="0"/>
              <a:t>total,</a:t>
            </a:r>
            <a:r>
              <a:rPr spc="-114" dirty="0"/>
              <a:t> </a:t>
            </a:r>
            <a:r>
              <a:rPr dirty="0"/>
              <a:t>available,</a:t>
            </a:r>
            <a:r>
              <a:rPr spc="-125" dirty="0"/>
              <a:t> </a:t>
            </a:r>
            <a:r>
              <a:rPr dirty="0"/>
              <a:t>assigned,</a:t>
            </a:r>
            <a:r>
              <a:rPr spc="-105" dirty="0"/>
              <a:t> </a:t>
            </a:r>
            <a:r>
              <a:rPr dirty="0"/>
              <a:t>and</a:t>
            </a:r>
            <a:r>
              <a:rPr spc="-114" dirty="0"/>
              <a:t> </a:t>
            </a:r>
            <a:r>
              <a:rPr spc="-10" dirty="0"/>
              <a:t>maintenance</a:t>
            </a:r>
            <a:r>
              <a:rPr spc="-105" dirty="0"/>
              <a:t> </a:t>
            </a:r>
            <a:r>
              <a:rPr spc="-10" dirty="0"/>
              <a:t>assets.</a:t>
            </a:r>
          </a:p>
          <a:p>
            <a:pPr marL="12700" marR="5080">
              <a:lnSpc>
                <a:spcPct val="150000"/>
              </a:lnSpc>
            </a:pPr>
            <a:r>
              <a:rPr dirty="0"/>
              <a:t>The</a:t>
            </a:r>
            <a:r>
              <a:rPr spc="-85" dirty="0"/>
              <a:t> </a:t>
            </a:r>
            <a:r>
              <a:rPr spc="-10" dirty="0"/>
              <a:t>frontend</a:t>
            </a:r>
            <a:r>
              <a:rPr spc="-75" dirty="0"/>
              <a:t> </a:t>
            </a:r>
            <a:r>
              <a:rPr dirty="0"/>
              <a:t>uses</a:t>
            </a:r>
            <a:r>
              <a:rPr spc="-70" dirty="0"/>
              <a:t> </a:t>
            </a:r>
            <a:r>
              <a:rPr dirty="0"/>
              <a:t>React.js,</a:t>
            </a:r>
            <a:r>
              <a:rPr spc="-70" dirty="0"/>
              <a:t> </a:t>
            </a:r>
            <a:r>
              <a:rPr dirty="0"/>
              <a:t>while</a:t>
            </a:r>
            <a:r>
              <a:rPr spc="-75" dirty="0"/>
              <a:t> </a:t>
            </a:r>
            <a:r>
              <a:rPr dirty="0"/>
              <a:t>Spring</a:t>
            </a:r>
            <a:r>
              <a:rPr spc="-65" dirty="0"/>
              <a:t> </a:t>
            </a:r>
            <a:r>
              <a:rPr dirty="0"/>
              <a:t>Boot</a:t>
            </a:r>
            <a:r>
              <a:rPr spc="-80" dirty="0"/>
              <a:t> </a:t>
            </a:r>
            <a:r>
              <a:rPr dirty="0"/>
              <a:t>3</a:t>
            </a:r>
            <a:r>
              <a:rPr spc="-75" dirty="0"/>
              <a:t> </a:t>
            </a:r>
            <a:r>
              <a:rPr dirty="0"/>
              <a:t>provides</a:t>
            </a:r>
            <a:r>
              <a:rPr spc="-60" dirty="0"/>
              <a:t> </a:t>
            </a:r>
            <a:r>
              <a:rPr dirty="0"/>
              <a:t>RESTful</a:t>
            </a:r>
            <a:r>
              <a:rPr spc="-80" dirty="0"/>
              <a:t> </a:t>
            </a:r>
            <a:r>
              <a:rPr dirty="0"/>
              <a:t>APIs</a:t>
            </a:r>
            <a:r>
              <a:rPr spc="-80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spc="-10" dirty="0"/>
              <a:t>backend</a:t>
            </a:r>
            <a:r>
              <a:rPr spc="-75" dirty="0"/>
              <a:t> </a:t>
            </a:r>
            <a:r>
              <a:rPr dirty="0"/>
              <a:t>services.</a:t>
            </a:r>
            <a:r>
              <a:rPr spc="-60" dirty="0"/>
              <a:t> </a:t>
            </a:r>
            <a:r>
              <a:rPr spc="-10" dirty="0"/>
              <a:t>PostgreSQL</a:t>
            </a:r>
            <a:r>
              <a:rPr spc="-60" dirty="0"/>
              <a:t> </a:t>
            </a:r>
            <a:r>
              <a:rPr spc="-10" dirty="0"/>
              <a:t>stores</a:t>
            </a:r>
            <a:r>
              <a:rPr spc="-80" dirty="0"/>
              <a:t> </a:t>
            </a:r>
            <a:r>
              <a:rPr spc="-20" dirty="0"/>
              <a:t>asset </a:t>
            </a:r>
            <a:r>
              <a:rPr dirty="0"/>
              <a:t>and</a:t>
            </a:r>
            <a:r>
              <a:rPr spc="-95" dirty="0"/>
              <a:t> </a:t>
            </a:r>
            <a:r>
              <a:rPr dirty="0"/>
              <a:t>user</a:t>
            </a:r>
            <a:r>
              <a:rPr spc="-80" dirty="0"/>
              <a:t> </a:t>
            </a:r>
            <a:r>
              <a:rPr dirty="0"/>
              <a:t>data</a:t>
            </a:r>
            <a:r>
              <a:rPr spc="-95" dirty="0"/>
              <a:t> </a:t>
            </a:r>
            <a:r>
              <a:rPr spc="-20" dirty="0"/>
              <a:t>securely.</a:t>
            </a:r>
            <a:r>
              <a:rPr spc="-75" dirty="0"/>
              <a:t> </a:t>
            </a:r>
            <a:r>
              <a:rPr dirty="0"/>
              <a:t>Docker</a:t>
            </a:r>
            <a:r>
              <a:rPr spc="-95" dirty="0"/>
              <a:t> </a:t>
            </a:r>
            <a:r>
              <a:rPr dirty="0"/>
              <a:t>supports</a:t>
            </a:r>
            <a:r>
              <a:rPr spc="-60" dirty="0"/>
              <a:t> </a:t>
            </a:r>
            <a:r>
              <a:rPr dirty="0"/>
              <a:t>deployment,</a:t>
            </a:r>
            <a:r>
              <a:rPr spc="-70" dirty="0"/>
              <a:t> </a:t>
            </a:r>
            <a:r>
              <a:rPr dirty="0"/>
              <a:t>while</a:t>
            </a:r>
            <a:r>
              <a:rPr spc="-90" dirty="0"/>
              <a:t> </a:t>
            </a:r>
            <a:r>
              <a:rPr dirty="0"/>
              <a:t>GitHub</a:t>
            </a:r>
            <a:r>
              <a:rPr spc="-70" dirty="0"/>
              <a:t> </a:t>
            </a:r>
            <a:r>
              <a:rPr dirty="0"/>
              <a:t>and</a:t>
            </a:r>
            <a:r>
              <a:rPr spc="-95" dirty="0"/>
              <a:t> </a:t>
            </a:r>
            <a:r>
              <a:rPr dirty="0"/>
              <a:t>Jira</a:t>
            </a:r>
            <a:r>
              <a:rPr spc="-100" dirty="0"/>
              <a:t> </a:t>
            </a:r>
            <a:r>
              <a:rPr dirty="0"/>
              <a:t>enable</a:t>
            </a:r>
            <a:r>
              <a:rPr spc="-85" dirty="0"/>
              <a:t> </a:t>
            </a:r>
            <a:r>
              <a:rPr dirty="0"/>
              <a:t>version</a:t>
            </a:r>
            <a:r>
              <a:rPr spc="-80" dirty="0"/>
              <a:t> </a:t>
            </a:r>
            <a:r>
              <a:rPr dirty="0"/>
              <a:t>control,</a:t>
            </a:r>
            <a:r>
              <a:rPr spc="-95" dirty="0"/>
              <a:t> </a:t>
            </a:r>
            <a:r>
              <a:rPr spc="-10" dirty="0"/>
              <a:t>collaboration, </a:t>
            </a:r>
            <a:r>
              <a:rPr dirty="0"/>
              <a:t>and</a:t>
            </a:r>
            <a:r>
              <a:rPr spc="-60" dirty="0"/>
              <a:t> </a:t>
            </a:r>
            <a:r>
              <a:rPr dirty="0"/>
              <a:t>Agile</a:t>
            </a:r>
            <a:r>
              <a:rPr spc="-65" dirty="0"/>
              <a:t> </a:t>
            </a:r>
            <a:r>
              <a:rPr dirty="0"/>
              <a:t>project</a:t>
            </a:r>
            <a:r>
              <a:rPr spc="-45" dirty="0"/>
              <a:t> </a:t>
            </a:r>
            <a:r>
              <a:rPr spc="-10" dirty="0"/>
              <a:t>management.</a:t>
            </a:r>
          </a:p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spc="-50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ED00EF-0959-BC04-B109-5F0D753FC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0" y="167296"/>
            <a:ext cx="3401863" cy="10912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160134" y="192405"/>
            <a:ext cx="501777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dirty="0">
                <a:solidFill>
                  <a:srgbClr val="000000"/>
                </a:solidFill>
              </a:rPr>
              <a:t>Existing</a:t>
            </a:r>
            <a:r>
              <a:rPr sz="6600" spc="-310" dirty="0">
                <a:solidFill>
                  <a:srgbClr val="000000"/>
                </a:solidFill>
              </a:rPr>
              <a:t> </a:t>
            </a:r>
            <a:r>
              <a:rPr sz="6600" spc="-10" dirty="0">
                <a:solidFill>
                  <a:srgbClr val="000000"/>
                </a:solidFill>
              </a:rPr>
              <a:t>Model</a:t>
            </a:r>
            <a:endParaRPr sz="6600"/>
          </a:p>
        </p:txBody>
      </p:sp>
      <p:sp>
        <p:nvSpPr>
          <p:cNvPr id="3" name="object 3"/>
          <p:cNvSpPr/>
          <p:nvPr/>
        </p:nvSpPr>
        <p:spPr>
          <a:xfrm>
            <a:off x="3886200" y="1485900"/>
            <a:ext cx="9525000" cy="0"/>
          </a:xfrm>
          <a:custGeom>
            <a:avLst/>
            <a:gdLst/>
            <a:ahLst/>
            <a:cxnLst/>
            <a:rect l="l" t="t" r="r" b="b"/>
            <a:pathLst>
              <a:path w="9525000">
                <a:moveTo>
                  <a:pt x="0" y="0"/>
                </a:moveTo>
                <a:lnTo>
                  <a:pt x="95250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89050" y="1860550"/>
          <a:ext cx="15460980" cy="77787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53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3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3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0540"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Existing</a:t>
                      </a:r>
                      <a:r>
                        <a:rPr sz="20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latin typeface="Calibri"/>
                          <a:cs typeface="Calibri"/>
                        </a:rPr>
                        <a:t>System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Main</a:t>
                      </a:r>
                      <a:r>
                        <a:rPr sz="2000" b="1" spc="-10" dirty="0">
                          <a:latin typeface="Calibri"/>
                          <a:cs typeface="Calibri"/>
                        </a:rPr>
                        <a:t> Features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Limitation</a:t>
                      </a:r>
                      <a:r>
                        <a:rPr sz="20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20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5" dirty="0">
                          <a:latin typeface="Calibri"/>
                          <a:cs typeface="Calibri"/>
                        </a:rPr>
                        <a:t>Gap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62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79375">
                        <a:lnSpc>
                          <a:spcPct val="100000"/>
                        </a:lnSpc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Snipe-</a:t>
                      </a:r>
                      <a:r>
                        <a:rPr sz="2000" b="1" spc="-35" dirty="0">
                          <a:latin typeface="Calibri"/>
                          <a:cs typeface="Calibri"/>
                        </a:rPr>
                        <a:t>IT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3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8001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Asset</a:t>
                      </a:r>
                      <a:r>
                        <a:rPr sz="20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tracking,</a:t>
                      </a:r>
                      <a:r>
                        <a:rPr sz="20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assignments,</a:t>
                      </a:r>
                      <a:r>
                        <a:rPr sz="20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licenses,</a:t>
                      </a:r>
                      <a:r>
                        <a:rPr sz="2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locations,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8001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inventory</a:t>
                      </a:r>
                      <a:r>
                        <a:rPr sz="2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management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203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3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8001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Mainly</a:t>
                      </a:r>
                      <a:r>
                        <a:rPr sz="2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focused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asset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tracking</a:t>
                      </a:r>
                      <a:r>
                        <a:rPr sz="2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limited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8001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workflow</a:t>
                      </a:r>
                      <a:r>
                        <a:rPr sz="20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automation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203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19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4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7937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ManageEngine</a:t>
                      </a:r>
                      <a:r>
                        <a:rPr sz="2000" b="1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latin typeface="Calibri"/>
                          <a:cs typeface="Calibri"/>
                        </a:rPr>
                        <a:t>AssetExplorer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955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80010" marR="95885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20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asset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tracking,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lifecycle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management,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software</a:t>
                      </a:r>
                      <a:r>
                        <a:rPr sz="20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0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hardware</a:t>
                      </a:r>
                      <a:r>
                        <a:rPr sz="20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inventory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80010" marR="43180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Complex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0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small</a:t>
                      </a:r>
                      <a:r>
                        <a:rPr sz="2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organizations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0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requires extensive</a:t>
                      </a:r>
                      <a:r>
                        <a:rPr sz="2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configuration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19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7937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ServiceNow</a:t>
                      </a:r>
                      <a:r>
                        <a:rPr sz="2000" b="1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0" dirty="0">
                          <a:latin typeface="Calibri"/>
                          <a:cs typeface="Calibri"/>
                        </a:rPr>
                        <a:t>ITAM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962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80010" marR="128206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Asset</a:t>
                      </a:r>
                      <a:r>
                        <a:rPr sz="2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lifecycle,</a:t>
                      </a:r>
                      <a:r>
                        <a:rPr sz="2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service</a:t>
                      </a:r>
                      <a:r>
                        <a:rPr sz="20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management, procurement,</a:t>
                      </a:r>
                      <a:r>
                        <a:rPr sz="20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0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tracking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80010" marR="119443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Expensive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0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more</a:t>
                      </a:r>
                      <a:r>
                        <a:rPr sz="20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suitable</a:t>
                      </a:r>
                      <a:r>
                        <a:rPr sz="2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0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large enterprises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19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7937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Asset</a:t>
                      </a:r>
                      <a:r>
                        <a:rPr sz="20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0" dirty="0">
                          <a:latin typeface="Calibri"/>
                          <a:cs typeface="Calibri"/>
                        </a:rPr>
                        <a:t>Panda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962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8001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Asset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tracking,</a:t>
                      </a:r>
                      <a:r>
                        <a:rPr sz="20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barcode</a:t>
                      </a:r>
                      <a:r>
                        <a:rPr sz="20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scanning,</a:t>
                      </a:r>
                      <a:r>
                        <a:rPr sz="20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custom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8001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workflows,</a:t>
                      </a:r>
                      <a:r>
                        <a:rPr sz="20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0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reporting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80010">
                        <a:lnSpc>
                          <a:spcPct val="100000"/>
                        </a:lnSpc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Customization</a:t>
                      </a:r>
                      <a:r>
                        <a:rPr sz="20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20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complex</a:t>
                      </a:r>
                      <a:r>
                        <a:rPr sz="20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0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costly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962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62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79375">
                        <a:lnSpc>
                          <a:spcPct val="100000"/>
                        </a:lnSpc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Spreadsheet-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Based</a:t>
                      </a:r>
                      <a:r>
                        <a:rPr sz="2000" b="1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latin typeface="Calibri"/>
                          <a:cs typeface="Calibri"/>
                        </a:rPr>
                        <a:t>Systems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39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8001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Basic</a:t>
                      </a:r>
                      <a:r>
                        <a:rPr sz="20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asset</a:t>
                      </a:r>
                      <a:r>
                        <a:rPr sz="20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records,</a:t>
                      </a:r>
                      <a:r>
                        <a:rPr sz="20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employee</a:t>
                      </a:r>
                      <a:r>
                        <a:rPr sz="20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assignments,</a:t>
                      </a:r>
                      <a:r>
                        <a:rPr sz="20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and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800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inventory</a:t>
                      </a:r>
                      <a:r>
                        <a:rPr sz="2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tracking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2097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39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8001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Manual</a:t>
                      </a:r>
                      <a:r>
                        <a:rPr sz="20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updates,</a:t>
                      </a:r>
                      <a:r>
                        <a:rPr sz="20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duplicate</a:t>
                      </a:r>
                      <a:r>
                        <a:rPr sz="20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data,</a:t>
                      </a:r>
                      <a:r>
                        <a:rPr sz="20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data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800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-25" dirty="0">
                          <a:latin typeface="Calibri"/>
                          <a:cs typeface="Calibri"/>
                        </a:rPr>
                        <a:t>inconsistency,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 and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poor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real-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20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tracking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2097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61E2157-09FD-4A4D-07CA-9F8FDC005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0" y="162385"/>
            <a:ext cx="3401863" cy="10912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45734" y="83261"/>
            <a:ext cx="536829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90" dirty="0"/>
              <a:t> </a:t>
            </a:r>
            <a:r>
              <a:rPr spc="-10" dirty="0"/>
              <a:t>MODEL</a:t>
            </a:r>
          </a:p>
        </p:txBody>
      </p:sp>
      <p:sp>
        <p:nvSpPr>
          <p:cNvPr id="4" name="object 4"/>
          <p:cNvSpPr/>
          <p:nvPr/>
        </p:nvSpPr>
        <p:spPr>
          <a:xfrm>
            <a:off x="3810000" y="1066800"/>
            <a:ext cx="9525000" cy="0"/>
          </a:xfrm>
          <a:custGeom>
            <a:avLst/>
            <a:gdLst/>
            <a:ahLst/>
            <a:cxnLst/>
            <a:rect l="l" t="t" r="r" b="b"/>
            <a:pathLst>
              <a:path w="9525000">
                <a:moveTo>
                  <a:pt x="0" y="0"/>
                </a:moveTo>
                <a:lnTo>
                  <a:pt x="95250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12140" y="1184909"/>
            <a:ext cx="1641983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891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AssetFlow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integrates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asset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registration,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inventory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tracking,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assignment,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transfer,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maintenance,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lifecycle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monitoring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single </a:t>
            </a:r>
            <a:r>
              <a:rPr sz="2400" spc="-20" dirty="0">
                <a:latin typeface="Calibri"/>
                <a:cs typeface="Calibri"/>
              </a:rPr>
              <a:t>centralized </a:t>
            </a:r>
            <a:r>
              <a:rPr sz="2400" spc="-10" dirty="0">
                <a:latin typeface="Calibri"/>
                <a:cs typeface="Calibri"/>
              </a:rPr>
              <a:t>system.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Admin/User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→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Asset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Registration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→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Asset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Categorization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→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Asset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Assignment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→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Asset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Tracking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→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Maintenance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Monitoring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→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Asset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35" dirty="0">
                <a:latin typeface="Calibri"/>
                <a:cs typeface="Calibri"/>
              </a:rPr>
              <a:t>Return/Transfer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→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Lifecycle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Status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→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Inventory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Dashboard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0" y="2781300"/>
            <a:ext cx="12954000" cy="723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D86E6C-3607-7115-189B-EF8F95CA9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0" y="34576"/>
            <a:ext cx="3401863" cy="10912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5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Users</a:t>
            </a:r>
          </a:p>
        </p:txBody>
      </p:sp>
      <p:sp>
        <p:nvSpPr>
          <p:cNvPr id="4" name="object 4"/>
          <p:cNvSpPr/>
          <p:nvPr/>
        </p:nvSpPr>
        <p:spPr>
          <a:xfrm>
            <a:off x="3810000" y="1066800"/>
            <a:ext cx="9525000" cy="0"/>
          </a:xfrm>
          <a:custGeom>
            <a:avLst/>
            <a:gdLst/>
            <a:ahLst/>
            <a:cxnLst/>
            <a:rect l="l" t="t" r="r" b="b"/>
            <a:pathLst>
              <a:path w="9525000">
                <a:moveTo>
                  <a:pt x="0" y="0"/>
                </a:moveTo>
                <a:lnTo>
                  <a:pt x="95250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09600" y="1266457"/>
            <a:ext cx="1641983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891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AssetFlow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integrates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asset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registration,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inventory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tracking,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assignment,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transfer,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maintenance,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lifecycle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monitoring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single </a:t>
            </a:r>
            <a:r>
              <a:rPr sz="2400" spc="-20" dirty="0">
                <a:latin typeface="Calibri"/>
                <a:cs typeface="Calibri"/>
              </a:rPr>
              <a:t>centralized </a:t>
            </a:r>
            <a:r>
              <a:rPr sz="2400" spc="-10" dirty="0">
                <a:latin typeface="Calibri"/>
                <a:cs typeface="Calibri"/>
              </a:rPr>
              <a:t>system.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Admin/User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→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Asset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Registration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→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Asset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Categorization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→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Asset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Assignment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→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Asset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Tracking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→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Maintenance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Monitoring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→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Asset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35" dirty="0">
                <a:latin typeface="Calibri"/>
                <a:cs typeface="Calibri"/>
              </a:rPr>
              <a:t>Return/Transfer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→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Lifecycle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Status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→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Inventory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Dashboard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7600" y="2960390"/>
            <a:ext cx="10668000" cy="71125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F69396-438D-F63B-8575-2F7053E4A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4200" y="85440"/>
            <a:ext cx="3401863" cy="10912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Methodology</a:t>
            </a:r>
          </a:p>
        </p:txBody>
      </p:sp>
      <p:sp>
        <p:nvSpPr>
          <p:cNvPr id="3" name="object 3"/>
          <p:cNvSpPr/>
          <p:nvPr/>
        </p:nvSpPr>
        <p:spPr>
          <a:xfrm>
            <a:off x="3810000" y="1066800"/>
            <a:ext cx="9525000" cy="0"/>
          </a:xfrm>
          <a:custGeom>
            <a:avLst/>
            <a:gdLst/>
            <a:ahLst/>
            <a:cxnLst/>
            <a:rect l="l" t="t" r="r" b="b"/>
            <a:pathLst>
              <a:path w="9525000">
                <a:moveTo>
                  <a:pt x="0" y="0"/>
                </a:moveTo>
                <a:lnTo>
                  <a:pt x="95250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099175" y="1667383"/>
            <a:ext cx="6842759" cy="7342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Requirement</a:t>
            </a:r>
            <a:r>
              <a:rPr sz="3200" spc="-1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Analysis</a:t>
            </a:r>
            <a:endParaRPr sz="3200">
              <a:latin typeface="Calibri"/>
              <a:cs typeface="Calibri"/>
            </a:endParaRPr>
          </a:p>
          <a:p>
            <a:pPr marL="1946275">
              <a:lnSpc>
                <a:spcPct val="100000"/>
              </a:lnSpc>
            </a:pPr>
            <a:r>
              <a:rPr sz="3200" spc="-50" dirty="0">
                <a:latin typeface="Calibri"/>
                <a:cs typeface="Calibri"/>
              </a:rPr>
              <a:t>↓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latin typeface="Calibri"/>
                <a:cs typeface="Calibri"/>
              </a:rPr>
              <a:t>Agile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/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Scrum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Planning</a:t>
            </a:r>
            <a:endParaRPr sz="3200">
              <a:latin typeface="Calibri"/>
              <a:cs typeface="Calibri"/>
            </a:endParaRPr>
          </a:p>
          <a:p>
            <a:pPr marL="1946275">
              <a:lnSpc>
                <a:spcPct val="100000"/>
              </a:lnSpc>
              <a:spcBef>
                <a:spcPts val="5"/>
              </a:spcBef>
            </a:pPr>
            <a:r>
              <a:rPr sz="3200" spc="-50" dirty="0">
                <a:latin typeface="Calibri"/>
                <a:cs typeface="Calibri"/>
              </a:rPr>
              <a:t>↓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latin typeface="Calibri"/>
                <a:cs typeface="Calibri"/>
              </a:rPr>
              <a:t>System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Design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&amp;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Database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Design</a:t>
            </a:r>
            <a:endParaRPr sz="3200">
              <a:latin typeface="Calibri"/>
              <a:cs typeface="Calibri"/>
            </a:endParaRPr>
          </a:p>
          <a:p>
            <a:pPr marL="2037714">
              <a:lnSpc>
                <a:spcPct val="100000"/>
              </a:lnSpc>
            </a:pPr>
            <a:r>
              <a:rPr sz="3200" spc="-50" dirty="0">
                <a:latin typeface="Calibri"/>
                <a:cs typeface="Calibri"/>
              </a:rPr>
              <a:t>↓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200" spc="-10" dirty="0">
                <a:latin typeface="Calibri"/>
                <a:cs typeface="Calibri"/>
              </a:rPr>
              <a:t>Frontend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&amp;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Backend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Development</a:t>
            </a:r>
            <a:endParaRPr sz="3200">
              <a:latin typeface="Calibri"/>
              <a:cs typeface="Calibri"/>
            </a:endParaRPr>
          </a:p>
          <a:p>
            <a:pPr marL="2037714">
              <a:lnSpc>
                <a:spcPct val="100000"/>
              </a:lnSpc>
            </a:pPr>
            <a:r>
              <a:rPr sz="3200" spc="-50" dirty="0">
                <a:latin typeface="Calibri"/>
                <a:cs typeface="Calibri"/>
              </a:rPr>
              <a:t>↓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latin typeface="Calibri"/>
                <a:cs typeface="Calibri"/>
              </a:rPr>
              <a:t>Asset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Management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Module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Integration</a:t>
            </a:r>
            <a:endParaRPr sz="3200">
              <a:latin typeface="Calibri"/>
              <a:cs typeface="Calibri"/>
            </a:endParaRPr>
          </a:p>
          <a:p>
            <a:pPr marL="12700" marR="3555365" indent="2025014">
              <a:lnSpc>
                <a:spcPct val="100000"/>
              </a:lnSpc>
            </a:pPr>
            <a:r>
              <a:rPr sz="3200" spc="-50" dirty="0">
                <a:latin typeface="Calibri"/>
                <a:cs typeface="Calibri"/>
              </a:rPr>
              <a:t>↓ </a:t>
            </a:r>
            <a:r>
              <a:rPr sz="3200" spc="-40" dirty="0">
                <a:latin typeface="Calibri"/>
                <a:cs typeface="Calibri"/>
              </a:rPr>
              <a:t>Testing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&amp;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Validation</a:t>
            </a:r>
            <a:endParaRPr sz="3200">
              <a:latin typeface="Calibri"/>
              <a:cs typeface="Calibri"/>
            </a:endParaRPr>
          </a:p>
          <a:p>
            <a:pPr marL="2130425">
              <a:lnSpc>
                <a:spcPct val="100000"/>
              </a:lnSpc>
            </a:pPr>
            <a:r>
              <a:rPr sz="3200" spc="-50" dirty="0">
                <a:latin typeface="Calibri"/>
                <a:cs typeface="Calibri"/>
              </a:rPr>
              <a:t>↓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dirty="0">
                <a:latin typeface="Calibri"/>
                <a:cs typeface="Calibri"/>
              </a:rPr>
              <a:t>Docker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Deployment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&amp;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GitHub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Integration</a:t>
            </a:r>
            <a:endParaRPr sz="3200">
              <a:latin typeface="Calibri"/>
              <a:cs typeface="Calibri"/>
            </a:endParaRPr>
          </a:p>
          <a:p>
            <a:pPr marL="2130425">
              <a:lnSpc>
                <a:spcPct val="100000"/>
              </a:lnSpc>
            </a:pPr>
            <a:r>
              <a:rPr sz="3200" spc="-50" dirty="0">
                <a:latin typeface="Calibri"/>
                <a:cs typeface="Calibri"/>
              </a:rPr>
              <a:t>↓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latin typeface="Calibri"/>
                <a:cs typeface="Calibri"/>
              </a:rPr>
              <a:t>Monitoring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&amp;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Continuous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Improvement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EC0C3F-4AAD-08A5-16F7-0C464095F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2800" y="155924"/>
            <a:ext cx="3401863" cy="10912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Process</a:t>
            </a:r>
            <a:r>
              <a:rPr spc="-35" dirty="0"/>
              <a:t> </a:t>
            </a:r>
            <a:r>
              <a:rPr spc="-10" dirty="0"/>
              <a:t>Model</a:t>
            </a:r>
          </a:p>
        </p:txBody>
      </p:sp>
      <p:sp>
        <p:nvSpPr>
          <p:cNvPr id="3" name="object 3"/>
          <p:cNvSpPr/>
          <p:nvPr/>
        </p:nvSpPr>
        <p:spPr>
          <a:xfrm>
            <a:off x="3810000" y="1066800"/>
            <a:ext cx="9525000" cy="0"/>
          </a:xfrm>
          <a:custGeom>
            <a:avLst/>
            <a:gdLst/>
            <a:ahLst/>
            <a:cxnLst/>
            <a:rect l="l" t="t" r="r" b="b"/>
            <a:pathLst>
              <a:path w="9525000">
                <a:moveTo>
                  <a:pt x="0" y="0"/>
                </a:moveTo>
                <a:lnTo>
                  <a:pt x="95250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909429" y="1742312"/>
            <a:ext cx="32048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Calibri"/>
                <a:cs typeface="Calibri"/>
              </a:rPr>
              <a:t>Agile</a:t>
            </a:r>
            <a:r>
              <a:rPr sz="3200" b="1" spc="-5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Scrum</a:t>
            </a:r>
            <a:r>
              <a:rPr sz="3200" b="1" spc="-4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Model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97939" y="2557398"/>
            <a:ext cx="306895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Calibri"/>
                <a:cs typeface="Calibri"/>
              </a:rPr>
              <a:t>Why</a:t>
            </a:r>
            <a:r>
              <a:rPr sz="3200" b="1" spc="-5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Agile</a:t>
            </a:r>
            <a:r>
              <a:rPr sz="3200" b="1" spc="-7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Scrum?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97939" y="3401695"/>
            <a:ext cx="6938645" cy="4293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213360" indent="-457834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469900" algn="l"/>
              </a:tabLst>
            </a:pPr>
            <a:r>
              <a:rPr sz="2800" b="1" spc="-10" dirty="0">
                <a:latin typeface="Calibri"/>
                <a:cs typeface="Calibri"/>
              </a:rPr>
              <a:t>Iterative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development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–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Build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AssetFlow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in </a:t>
            </a:r>
            <a:r>
              <a:rPr sz="2800" dirty="0">
                <a:latin typeface="Calibri"/>
                <a:cs typeface="Calibri"/>
              </a:rPr>
              <a:t>small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functional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modules.</a:t>
            </a:r>
            <a:endParaRPr sz="2800">
              <a:latin typeface="Calibri"/>
              <a:cs typeface="Calibri"/>
            </a:endParaRPr>
          </a:p>
          <a:p>
            <a:pPr marL="469900" marR="5080" indent="-457834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2800" b="1" dirty="0">
                <a:latin typeface="Calibri"/>
                <a:cs typeface="Calibri"/>
              </a:rPr>
              <a:t>Continuous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feedback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–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Get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regular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feedback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users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team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members.</a:t>
            </a:r>
            <a:endParaRPr sz="2800">
              <a:latin typeface="Calibri"/>
              <a:cs typeface="Calibri"/>
            </a:endParaRPr>
          </a:p>
          <a:p>
            <a:pPr marL="469900" marR="40640" indent="-457834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2800" b="1" dirty="0">
                <a:latin typeface="Calibri"/>
                <a:cs typeface="Calibri"/>
              </a:rPr>
              <a:t>Easy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adaptation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–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Quickly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adapt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changing </a:t>
            </a:r>
            <a:r>
              <a:rPr sz="2800" spc="-20" dirty="0">
                <a:latin typeface="Calibri"/>
                <a:cs typeface="Calibri"/>
              </a:rPr>
              <a:t>asset-</a:t>
            </a:r>
            <a:r>
              <a:rPr sz="2800" spc="-10" dirty="0">
                <a:latin typeface="Calibri"/>
                <a:cs typeface="Calibri"/>
              </a:rPr>
              <a:t>management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requirements.</a:t>
            </a:r>
            <a:endParaRPr sz="2800">
              <a:latin typeface="Calibri"/>
              <a:cs typeface="Calibri"/>
            </a:endParaRPr>
          </a:p>
          <a:p>
            <a:pPr marL="469900" marR="463550" indent="-457834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2800" b="1" dirty="0">
                <a:latin typeface="Calibri"/>
                <a:cs typeface="Calibri"/>
              </a:rPr>
              <a:t>Frequent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testing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–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60" dirty="0">
                <a:latin typeface="Calibri"/>
                <a:cs typeface="Calibri"/>
              </a:rPr>
              <a:t>Test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improve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each </a:t>
            </a:r>
            <a:r>
              <a:rPr sz="2800" dirty="0">
                <a:latin typeface="Calibri"/>
                <a:cs typeface="Calibri"/>
              </a:rPr>
              <a:t>module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after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every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sprint.</a:t>
            </a:r>
            <a:endParaRPr sz="2800">
              <a:latin typeface="Calibri"/>
              <a:cs typeface="Calibri"/>
            </a:endParaRPr>
          </a:p>
          <a:p>
            <a:pPr marL="469900" marR="77470" indent="-457834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2800" b="1" spc="-60" dirty="0">
                <a:latin typeface="Calibri"/>
                <a:cs typeface="Calibri"/>
              </a:rPr>
              <a:t>Team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collaboration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–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Supports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coordination </a:t>
            </a:r>
            <a:r>
              <a:rPr sz="2800" dirty="0">
                <a:latin typeface="Calibri"/>
                <a:cs typeface="Calibri"/>
              </a:rPr>
              <a:t>among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developers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stakeholders.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86745" y="2462911"/>
            <a:ext cx="4034790" cy="6426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674495" algn="ctr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Product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Backlog</a:t>
            </a:r>
            <a:endParaRPr sz="2800">
              <a:latin typeface="Calibri"/>
              <a:cs typeface="Calibri"/>
            </a:endParaRPr>
          </a:p>
          <a:p>
            <a:pPr marR="1899920" algn="ctr">
              <a:lnSpc>
                <a:spcPct val="100000"/>
              </a:lnSpc>
            </a:pPr>
            <a:r>
              <a:rPr sz="2800" spc="-50" dirty="0">
                <a:latin typeface="Calibri"/>
                <a:cs typeface="Calibri"/>
              </a:rPr>
              <a:t>↓</a:t>
            </a:r>
            <a:endParaRPr sz="2800">
              <a:latin typeface="Calibri"/>
              <a:cs typeface="Calibri"/>
            </a:endParaRPr>
          </a:p>
          <a:p>
            <a:pPr marR="1819275" algn="ctr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Sprint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Planning</a:t>
            </a:r>
            <a:endParaRPr sz="2800">
              <a:latin typeface="Calibri"/>
              <a:cs typeface="Calibri"/>
            </a:endParaRPr>
          </a:p>
          <a:p>
            <a:pPr marR="1899920" algn="ctr">
              <a:lnSpc>
                <a:spcPct val="100000"/>
              </a:lnSpc>
            </a:pPr>
            <a:r>
              <a:rPr sz="2800" spc="-50" dirty="0">
                <a:latin typeface="Calibri"/>
                <a:cs typeface="Calibri"/>
              </a:rPr>
              <a:t>↓</a:t>
            </a:r>
            <a:endParaRPr sz="2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Asset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Module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Development</a:t>
            </a:r>
            <a:endParaRPr sz="2800">
              <a:latin typeface="Calibri"/>
              <a:cs typeface="Calibri"/>
            </a:endParaRPr>
          </a:p>
          <a:p>
            <a:pPr marR="1899920" algn="ctr">
              <a:lnSpc>
                <a:spcPct val="100000"/>
              </a:lnSpc>
            </a:pPr>
            <a:r>
              <a:rPr sz="2800" spc="-50" dirty="0">
                <a:latin typeface="Calibri"/>
                <a:cs typeface="Calibri"/>
              </a:rPr>
              <a:t>↓</a:t>
            </a:r>
            <a:endParaRPr sz="2800">
              <a:latin typeface="Calibri"/>
              <a:cs typeface="Calibri"/>
            </a:endParaRPr>
          </a:p>
          <a:p>
            <a:pPr marR="1148080" algn="ctr">
              <a:lnSpc>
                <a:spcPct val="100000"/>
              </a:lnSpc>
            </a:pPr>
            <a:r>
              <a:rPr sz="2800" spc="-35" dirty="0">
                <a:latin typeface="Calibri"/>
                <a:cs typeface="Calibri"/>
              </a:rPr>
              <a:t>Testing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&amp;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Validation</a:t>
            </a:r>
            <a:endParaRPr sz="2800">
              <a:latin typeface="Calibri"/>
              <a:cs typeface="Calibri"/>
            </a:endParaRPr>
          </a:p>
          <a:p>
            <a:pPr marL="12700" marR="2040255" indent="889635">
              <a:lnSpc>
                <a:spcPct val="100000"/>
              </a:lnSpc>
            </a:pPr>
            <a:r>
              <a:rPr sz="2800" spc="-50" dirty="0">
                <a:latin typeface="Calibri"/>
                <a:cs typeface="Calibri"/>
              </a:rPr>
              <a:t>↓ </a:t>
            </a:r>
            <a:r>
              <a:rPr sz="2800" dirty="0">
                <a:latin typeface="Calibri"/>
                <a:cs typeface="Calibri"/>
              </a:rPr>
              <a:t>Sprint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Review</a:t>
            </a:r>
            <a:endParaRPr sz="2800">
              <a:latin typeface="Calibri"/>
              <a:cs typeface="Calibri"/>
            </a:endParaRPr>
          </a:p>
          <a:p>
            <a:pPr marL="902335">
              <a:lnSpc>
                <a:spcPct val="100000"/>
              </a:lnSpc>
            </a:pPr>
            <a:r>
              <a:rPr sz="2800" spc="-50" dirty="0">
                <a:latin typeface="Calibri"/>
                <a:cs typeface="Calibri"/>
              </a:rPr>
              <a:t>↓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latin typeface="Calibri"/>
                <a:cs typeface="Calibri"/>
              </a:rPr>
              <a:t>Sprint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Retrospective</a:t>
            </a:r>
            <a:endParaRPr sz="2800">
              <a:latin typeface="Calibri"/>
              <a:cs typeface="Calibri"/>
            </a:endParaRPr>
          </a:p>
          <a:p>
            <a:pPr marL="902335">
              <a:lnSpc>
                <a:spcPct val="100000"/>
              </a:lnSpc>
            </a:pPr>
            <a:r>
              <a:rPr sz="2800" spc="-50" dirty="0">
                <a:latin typeface="Calibri"/>
                <a:cs typeface="Calibri"/>
              </a:rPr>
              <a:t>↓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spc="-20" dirty="0">
                <a:latin typeface="Calibri"/>
                <a:cs typeface="Calibri"/>
              </a:rPr>
              <a:t>Working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Increment</a:t>
            </a:r>
            <a:endParaRPr sz="2800">
              <a:latin typeface="Calibri"/>
              <a:cs typeface="Calibri"/>
            </a:endParaRPr>
          </a:p>
          <a:p>
            <a:pPr marL="12700" marR="2404110" indent="808990">
              <a:lnSpc>
                <a:spcPct val="100000"/>
              </a:lnSpc>
            </a:pPr>
            <a:r>
              <a:rPr sz="2800" spc="-50" dirty="0">
                <a:latin typeface="Calibri"/>
                <a:cs typeface="Calibri"/>
              </a:rPr>
              <a:t>↓ </a:t>
            </a:r>
            <a:r>
              <a:rPr sz="2800" dirty="0">
                <a:latin typeface="Calibri"/>
                <a:cs typeface="Calibri"/>
              </a:rPr>
              <a:t>Next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Sprint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26BFD9-4722-7510-E6D7-F7FC6E305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6600" y="179069"/>
            <a:ext cx="3401863" cy="10912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Technical</a:t>
            </a:r>
            <a:r>
              <a:rPr spc="-250" dirty="0"/>
              <a:t> </a:t>
            </a:r>
            <a:r>
              <a:rPr spc="-10" dirty="0"/>
              <a:t>Aspects</a:t>
            </a:r>
          </a:p>
        </p:txBody>
      </p:sp>
      <p:sp>
        <p:nvSpPr>
          <p:cNvPr id="3" name="object 3"/>
          <p:cNvSpPr/>
          <p:nvPr/>
        </p:nvSpPr>
        <p:spPr>
          <a:xfrm>
            <a:off x="3810000" y="1066800"/>
            <a:ext cx="9525000" cy="0"/>
          </a:xfrm>
          <a:custGeom>
            <a:avLst/>
            <a:gdLst/>
            <a:ahLst/>
            <a:cxnLst/>
            <a:rect l="l" t="t" r="r" b="b"/>
            <a:pathLst>
              <a:path w="9525000">
                <a:moveTo>
                  <a:pt x="0" y="0"/>
                </a:moveTo>
                <a:lnTo>
                  <a:pt x="95250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5100" y="1333500"/>
            <a:ext cx="12992100" cy="86547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6628C0-53CE-2EB9-DB92-0BC98B5FF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6600" y="57609"/>
            <a:ext cx="3401863" cy="10912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388734" y="1991944"/>
            <a:ext cx="460692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10" dirty="0"/>
              <a:t>CONCLUSION</a:t>
            </a:r>
            <a:endParaRPr sz="6600" dirty="0"/>
          </a:p>
        </p:txBody>
      </p:sp>
      <p:sp>
        <p:nvSpPr>
          <p:cNvPr id="3" name="object 3"/>
          <p:cNvSpPr/>
          <p:nvPr/>
        </p:nvSpPr>
        <p:spPr>
          <a:xfrm>
            <a:off x="3886200" y="3162300"/>
            <a:ext cx="9525000" cy="0"/>
          </a:xfrm>
          <a:custGeom>
            <a:avLst/>
            <a:gdLst/>
            <a:ahLst/>
            <a:cxnLst/>
            <a:rect l="l" t="t" r="r" b="b"/>
            <a:pathLst>
              <a:path w="9525000">
                <a:moveTo>
                  <a:pt x="0" y="0"/>
                </a:moveTo>
                <a:lnTo>
                  <a:pt x="95250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55394" y="3335553"/>
            <a:ext cx="14499590" cy="5786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800" dirty="0">
                <a:latin typeface="Calibri"/>
                <a:cs typeface="Calibri"/>
              </a:rPr>
              <a:t>AssetFlow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provides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centralized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efficient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solution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managing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organization’s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assets </a:t>
            </a:r>
            <a:r>
              <a:rPr sz="2800" dirty="0">
                <a:latin typeface="Calibri"/>
                <a:cs typeface="Calibri"/>
              </a:rPr>
              <a:t>throughout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their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complete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lifecycle.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combining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React.js,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Spring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Boot,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PostgreSQL,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Docker,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GitHub,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Jira,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enables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secure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asset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tracking,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assignment,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maintenance,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inventory management.</a:t>
            </a:r>
            <a:endParaRPr sz="2800" dirty="0">
              <a:latin typeface="Calibri"/>
              <a:cs typeface="Calibri"/>
            </a:endParaRPr>
          </a:p>
          <a:p>
            <a:pPr marL="469900" marR="13271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reduces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manual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effort,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improves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accuracy,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provides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better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visibility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asset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availability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usage.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modular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scalable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architecture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also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allows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AssetFlow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extended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with </a:t>
            </a:r>
            <a:r>
              <a:rPr sz="2800" dirty="0">
                <a:latin typeface="Calibri"/>
                <a:cs typeface="Calibri"/>
              </a:rPr>
              <a:t>additional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features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future.</a:t>
            </a:r>
            <a:endParaRPr sz="2800" dirty="0">
              <a:latin typeface="Calibri"/>
              <a:cs typeface="Calibri"/>
            </a:endParaRPr>
          </a:p>
          <a:p>
            <a:pPr marL="469900" marR="203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800" dirty="0">
                <a:latin typeface="Calibri"/>
                <a:cs typeface="Calibri"/>
              </a:rPr>
              <a:t>AssetFlow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ultimately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helps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organizations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achieve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smarter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asset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utilization,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improved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accountability,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efficient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operations.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77B47F-957A-3E4B-6EF0-0A5903B71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0" y="88012"/>
            <a:ext cx="3401863" cy="10912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32605" y="3766819"/>
            <a:ext cx="11332210" cy="2474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0" spc="-930" dirty="0">
                <a:solidFill>
                  <a:srgbClr val="000000"/>
                </a:solidFill>
                <a:latin typeface="+mj-lt"/>
                <a:cs typeface="Times New Roman"/>
              </a:rPr>
              <a:t>THANK</a:t>
            </a:r>
            <a:r>
              <a:rPr sz="16000" dirty="0">
                <a:solidFill>
                  <a:srgbClr val="000000"/>
                </a:solidFill>
                <a:latin typeface="+mj-lt"/>
                <a:cs typeface="Times New Roman"/>
              </a:rPr>
              <a:t> </a:t>
            </a:r>
            <a:r>
              <a:rPr sz="16000" spc="-1714" dirty="0">
                <a:solidFill>
                  <a:srgbClr val="000000"/>
                </a:solidFill>
                <a:latin typeface="+mj-lt"/>
                <a:cs typeface="Times New Roman"/>
              </a:rPr>
              <a:t>YOU</a:t>
            </a:r>
            <a:endParaRPr sz="16000" dirty="0">
              <a:latin typeface="+mj-lt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283692-327F-3C2B-2C09-B12C71F70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0" y="190500"/>
            <a:ext cx="3401863" cy="10912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668</Words>
  <Application>Microsoft Office PowerPoint</Application>
  <PresentationFormat>Custom</PresentationFormat>
  <Paragraphs>118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MT</vt:lpstr>
      <vt:lpstr>Calibri</vt:lpstr>
      <vt:lpstr>Times New Roman</vt:lpstr>
      <vt:lpstr>Office Theme</vt:lpstr>
      <vt:lpstr>ASSETFLOW – ENTERPRISE IT ASSET MANAGEMENT PLATFORM WITH INTELLIGENT ASSET TRACKING &amp; LIFECYCLE MONITORING</vt:lpstr>
      <vt:lpstr>ABSTRACT</vt:lpstr>
      <vt:lpstr>Existing Model</vt:lpstr>
      <vt:lpstr>PROPOSED MODEL</vt:lpstr>
      <vt:lpstr>Users</vt:lpstr>
      <vt:lpstr>Methodology</vt:lpstr>
      <vt:lpstr>Process Model</vt:lpstr>
      <vt:lpstr>Technical Aspects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Sushmita Sallam</dc:creator>
  <cp:lastModifiedBy>Sushmita S</cp:lastModifiedBy>
  <cp:revision>2</cp:revision>
  <dcterms:created xsi:type="dcterms:W3CDTF">2026-09-26T06:35:06Z</dcterms:created>
  <dcterms:modified xsi:type="dcterms:W3CDTF">2026-09-26T06:50:25Z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2026-09-26T00:00:00Z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2026-09-26T00:00:00Z</vt:filetime>
  </property>
  <property fmtid="{D5CDD505-2E9C-101B-9397-08002B2CF9AE}" pid="6" name="Producer">
    <vt:lpwstr>www.ilovepdf.com</vt:lpwstr>
  </property>
</Properties>
</file>